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864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F3864"/>
                </a:solidFill>
                <a:latin typeface="Arial"/>
              </a:rPr>
              <a:t>Sector-wise Demand vs. Available Skilled Workforce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Demand (jobs)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Construction</c:v>
                  </c:pt>
                  <c:pt idx="1">
                    <c:v>Logistics</c:v>
                  </c:pt>
                  <c:pt idx="2">
                    <c:v>Manufacturing</c:v>
                  </c:pt>
                  <c:pt idx="3">
                    <c:v>Tourism</c:v>
                  </c:pt>
                  <c:pt idx="4">
                    <c:v>IT/ITES</c:v>
                  </c:pt>
                  <c:pt idx="5">
                    <c:v>Renewable Energy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23747</c:v>
                </c:pt>
                <c:pt idx="1">
                  <c:v>19541</c:v>
                </c:pt>
                <c:pt idx="2">
                  <c:v>24183</c:v>
                </c:pt>
                <c:pt idx="3">
                  <c:v>23506</c:v>
                </c:pt>
                <c:pt idx="4">
                  <c:v>14544</c:v>
                </c:pt>
                <c:pt idx="5">
                  <c:v>9522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Available Workforce</c:v>
                </c:pt>
              </c:strCache>
            </c:strRef>
          </c:tx>
          <c:spPr>
            <a:solidFill>
              <a:srgbClr val="2E7D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Construction</c:v>
                  </c:pt>
                  <c:pt idx="1">
                    <c:v>Logistics</c:v>
                  </c:pt>
                  <c:pt idx="2">
                    <c:v>Manufacturing</c:v>
                  </c:pt>
                  <c:pt idx="3">
                    <c:v>Tourism</c:v>
                  </c:pt>
                  <c:pt idx="4">
                    <c:v>IT/ITES</c:v>
                  </c:pt>
                  <c:pt idx="5">
                    <c:v>Renewable Energy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11606</c:v>
                </c:pt>
                <c:pt idx="1">
                  <c:v>7439</c:v>
                </c:pt>
                <c:pt idx="2">
                  <c:v>12401</c:v>
                </c:pt>
                <c:pt idx="3">
                  <c:v>12064</c:v>
                </c:pt>
                <c:pt idx="4">
                  <c:v>3552</c:v>
                </c:pt>
                <c:pt idx="5">
                  <c:v>1289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22222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Jobs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22222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864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F3864"/>
                </a:solidFill>
                <a:latin typeface="Arial"/>
              </a:rPr>
              <a:t>State-wise Skill Gap (Jobs)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Skill Gap (jobs)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222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Assam</c:v>
                  </c:pt>
                  <c:pt idx="1">
                    <c:v>Tripura</c:v>
                  </c:pt>
                  <c:pt idx="2">
                    <c:v>Meghalaya</c:v>
                  </c:pt>
                  <c:pt idx="3">
                    <c:v>Manipur</c:v>
                  </c:pt>
                  <c:pt idx="4">
                    <c:v>Nagaland</c:v>
                  </c:pt>
                  <c:pt idx="5">
                    <c:v>Arunachal Pradesh</c:v>
                  </c:pt>
                  <c:pt idx="6">
                    <c:v>Mizoram</c:v>
                  </c:pt>
                  <c:pt idx="7">
                    <c:v>Sikkim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54559</c:v>
                </c:pt>
                <c:pt idx="1">
                  <c:v>3332</c:v>
                </c:pt>
                <c:pt idx="2">
                  <c:v>3117</c:v>
                </c:pt>
                <c:pt idx="3">
                  <c:v>2528</c:v>
                </c:pt>
                <c:pt idx="4">
                  <c:v>1304</c:v>
                </c:pt>
                <c:pt idx="5">
                  <c:v>851</c:v>
                </c:pt>
                <c:pt idx="6">
                  <c:v>573</c:v>
                </c:pt>
                <c:pt idx="7">
                  <c:v>428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222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2222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2222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864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F3864"/>
                </a:solidFill>
                <a:latin typeface="Arial"/>
              </a:rPr>
              <a:t>Skill Gap % by Category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Gap %</c:v>
                </c:pt>
              </c:strCache>
            </c:strRef>
          </c:tx>
          <c:spPr>
            <a:solidFill>
              <a:srgbClr val="2E7D6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Digital &amp; IT</c:v>
                  </c:pt>
                  <c:pt idx="1">
                    <c:v>Safety &amp; Compliance</c:v>
                  </c:pt>
                  <c:pt idx="2">
                    <c:v>Supervisory/Management</c:v>
                  </c:pt>
                  <c:pt idx="3">
                    <c:v>Technical/Vocational</c:v>
                  </c:pt>
                  <c:pt idx="4">
                    <c:v>Soft Skills/Communication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73</c:v>
                </c:pt>
                <c:pt idx="1">
                  <c:v>60.2</c:v>
                </c:pt>
                <c:pt idx="2">
                  <c:v>54.9</c:v>
                </c:pt>
                <c:pt idx="3">
                  <c:v>54.8</c:v>
                </c:pt>
                <c:pt idx="4">
                  <c:v>51.1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9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2222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Gap %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2222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394960"/>
            <a:ext cx="12188952" cy="1463040"/>
          </a:xfrm>
          <a:prstGeom prst="rect">
            <a:avLst/>
          </a:prstGeom>
          <a:solidFill>
            <a:srgbClr val="16294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246120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965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NORTHEAST INDIA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688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Youth Employment &amp; Skill Gap Analysis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290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Sector-wise demand vs. workforce availability across 8 states | A Skill Gap Index for prioritizing employment interventions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6235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Sectors analyzed: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Manufacturing · Tourism · Logistics · Renewable Energy · IT/ITES · Construction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989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(SQLite)  ·  Excel  ·  PowerPoint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Northeast India needs a skill-gap lens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430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Youth employment is a bottleneck for regional growth despite active sector investment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82296" cy="914400"/>
          </a:xfrm>
          <a:prstGeom prst="rect">
            <a:avLst/>
          </a:prstGeom>
          <a:solidFill>
            <a:srgbClr val="2E7D6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7373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youth share, uneven absorption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10312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region's 15-29 population is large relative to formal-sector job creation, especially outside Assam's urban centers.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926080"/>
            <a:ext cx="82296" cy="9144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8803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 momentum is real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24612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Tourism, renewable energy (hydro, solar), logistics (Act East corridors) and manufacturing are all receiving policy and investment attention.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4069080"/>
            <a:ext cx="82296" cy="914400"/>
          </a:xfrm>
          <a:prstGeom prst="rect">
            <a:avLst/>
          </a:prstGeom>
          <a:solidFill>
            <a:srgbClr val="2E7D6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40233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training hasn't kept pace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38912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&amp; IT and Renewable Energy skill categories show the widest gaps between what employers need and what the workforce currently offers.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5212080"/>
            <a:ext cx="82296" cy="9144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51663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Fragmented, state-by-state efforts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553212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Skilling investment is rarely prioritized using a common, comparable index across states and sectors — leading to duplicated or misallocated effort.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309360" y="173736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EAF1F8"/>
          </a:solidFill>
          <a:ln w="12700">
            <a:solidFill>
              <a:srgbClr val="D6E0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8368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snapshot (modeled, 2026-28)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25146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7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1,15,043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8778240" y="2560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jobs, 2026-28 (6 sectors, 8 states)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3410712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7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48,351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8778240" y="345643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Currently available skilled workforce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583680" y="4306824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94A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66,692</a:t>
            </a:r>
            <a:endParaRPr lang="en-US" sz="2600" dirty="0"/>
          </a:p>
        </p:txBody>
      </p:sp>
      <p:sp>
        <p:nvSpPr>
          <p:cNvPr id="25" name="Text 23"/>
          <p:cNvSpPr txBox="1"/>
          <p:nvPr/>
        </p:nvSpPr>
        <p:spPr>
          <a:xfrm>
            <a:off x="8778240" y="435254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gap (jobs employers can't yet fill)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583680" y="5202936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7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58.0%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8778240" y="524865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Region-wide average skill gap rate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Northeast India Youth Employment &amp; Skill Gap Analysis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raw workforce data to a prioritized action list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430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→ Available skills → Skill gap → Employment opportunity → Intervention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2194560" cy="4114800"/>
          </a:xfrm>
          <a:prstGeom prst="roundRect">
            <a:avLst>
              <a:gd name="adj" fmla="val 2917"/>
            </a:avLst>
          </a:prstGeom>
          <a:solidFill>
            <a:srgbClr val="EAF1F8"/>
          </a:solidFill>
          <a:ln w="12700">
            <a:solidFill>
              <a:srgbClr val="D6E0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0116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7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6060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3063240"/>
            <a:ext cx="19202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sector-wise, state-wise employment demand (2026-28) using youth population, sector activity, and state-sector affinity.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660904" y="356616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852928" y="1874520"/>
            <a:ext cx="2194560" cy="4114800"/>
          </a:xfrm>
          <a:prstGeom prst="roundRect">
            <a:avLst>
              <a:gd name="adj" fmla="val 2917"/>
            </a:avLst>
          </a:prstGeom>
          <a:solidFill>
            <a:srgbClr val="EAF1F8"/>
          </a:solidFill>
          <a:ln w="12700">
            <a:solidFill>
              <a:srgbClr val="D6E0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990088" y="20116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7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2990088" y="26060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Skills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2990088" y="3063240"/>
            <a:ext cx="19202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 current skilled workforce by state, sector and skill category (Technical, Digital &amp; IT, Soft Skills, Supervisory, Safety).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056632" y="356616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248656" y="1874520"/>
            <a:ext cx="2194560" cy="4114800"/>
          </a:xfrm>
          <a:prstGeom prst="roundRect">
            <a:avLst>
              <a:gd name="adj" fmla="val 2917"/>
            </a:avLst>
          </a:prstGeom>
          <a:solidFill>
            <a:srgbClr val="EAF1F8"/>
          </a:solidFill>
          <a:ln w="12700">
            <a:solidFill>
              <a:srgbClr val="D6E0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85816" y="20116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7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5385816" y="26060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Gap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5385816" y="3063240"/>
            <a:ext cx="19202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= Demand − Supply, and Gap % = Gap / Demand, computed per segment via SQL.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7452360" y="356616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44384" y="1874520"/>
            <a:ext cx="2194560" cy="4114800"/>
          </a:xfrm>
          <a:prstGeom prst="roundRect">
            <a:avLst>
              <a:gd name="adj" fmla="val 2917"/>
            </a:avLst>
          </a:prstGeom>
          <a:solidFill>
            <a:srgbClr val="FBF3DC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81544" y="20116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7781544" y="26060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Gap Index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7781544" y="3063240"/>
            <a:ext cx="19202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weighted, normalized 0-1 score: 45% gap severity + 35% opportunity size + 20% feasibility.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9848088" y="356616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040112" y="1874520"/>
            <a:ext cx="2194560" cy="4114800"/>
          </a:xfrm>
          <a:prstGeom prst="roundRect">
            <a:avLst>
              <a:gd name="adj" fmla="val 2917"/>
            </a:avLst>
          </a:prstGeom>
          <a:solidFill>
            <a:srgbClr val="EAF1F8"/>
          </a:solidFill>
          <a:ln w="12700">
            <a:solidFill>
              <a:srgbClr val="D6E0E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177272" y="20116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7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10177272" y="26060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Intervention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10177272" y="3063240"/>
            <a:ext cx="19202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all 48 state×sector segments by SGI to target the highest-priority skilling investments first.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1722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SGI formula:  </a:t>
            </a:r>
            <a:pPr indent="0" marL="0">
              <a:buNone/>
            </a:pPr>
            <a:r>
              <a:rPr lang="en-US" sz="1200" i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SGI = 0.45 × Gap% (normalized) + 0.35 × Demand volume (normalized) + 0.20 × Feasibility (normalized)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Northeast India Youth Employment &amp; Skill Gap Analysis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 ANALYSIS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sector shows a substantial skill gap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430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consistently outpaces available skilled workforce, 2026-28 (modeled)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691640"/>
          <a:ext cx="73152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800100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% by sector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001000" y="21031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8001000" y="2350008"/>
            <a:ext cx="3291840" cy="201168"/>
          </a:xfrm>
          <a:prstGeom prst="rect">
            <a:avLst/>
          </a:prstGeom>
          <a:solidFill>
            <a:srgbClr val="E9E9E9"/>
          </a:solidFill>
          <a:ln/>
        </p:spPr>
      </p:sp>
      <p:sp>
        <p:nvSpPr>
          <p:cNvPr id="10" name="Shape 7"/>
          <p:cNvSpPr/>
          <p:nvPr/>
        </p:nvSpPr>
        <p:spPr>
          <a:xfrm>
            <a:off x="8001000" y="2350008"/>
            <a:ext cx="1682130" cy="201168"/>
          </a:xfrm>
          <a:prstGeom prst="rect">
            <a:avLst/>
          </a:prstGeom>
          <a:solidFill>
            <a:srgbClr val="2E7D6E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292840" y="232257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51.1%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26791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01000" y="2926080"/>
            <a:ext cx="3291840" cy="201168"/>
          </a:xfrm>
          <a:prstGeom prst="rect">
            <a:avLst/>
          </a:prstGeom>
          <a:solidFill>
            <a:srgbClr val="E9E9E9"/>
          </a:solidFill>
          <a:ln/>
        </p:spPr>
      </p:sp>
      <p:sp>
        <p:nvSpPr>
          <p:cNvPr id="14" name="Shape 11"/>
          <p:cNvSpPr/>
          <p:nvPr/>
        </p:nvSpPr>
        <p:spPr>
          <a:xfrm>
            <a:off x="8001000" y="2926080"/>
            <a:ext cx="2037649" cy="20116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292840" y="289864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61.9%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8001000" y="325526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Manufacturing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001000" y="3502152"/>
            <a:ext cx="3291840" cy="201168"/>
          </a:xfrm>
          <a:prstGeom prst="rect">
            <a:avLst/>
          </a:prstGeom>
          <a:solidFill>
            <a:srgbClr val="E9E9E9"/>
          </a:solidFill>
          <a:ln/>
        </p:spPr>
      </p:sp>
      <p:sp>
        <p:nvSpPr>
          <p:cNvPr id="18" name="Shape 15"/>
          <p:cNvSpPr/>
          <p:nvPr/>
        </p:nvSpPr>
        <p:spPr>
          <a:xfrm>
            <a:off x="8001000" y="3502152"/>
            <a:ext cx="1603126" cy="201168"/>
          </a:xfrm>
          <a:prstGeom prst="rect">
            <a:avLst/>
          </a:prstGeom>
          <a:solidFill>
            <a:srgbClr val="2E7D6E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1292840" y="347472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48.7%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8001000" y="3831336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Tourism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8001000" y="4078224"/>
            <a:ext cx="3291840" cy="201168"/>
          </a:xfrm>
          <a:prstGeom prst="rect">
            <a:avLst/>
          </a:prstGeom>
          <a:solidFill>
            <a:srgbClr val="E9E9E9"/>
          </a:solidFill>
          <a:ln/>
        </p:spPr>
      </p:sp>
      <p:sp>
        <p:nvSpPr>
          <p:cNvPr id="22" name="Shape 19"/>
          <p:cNvSpPr/>
          <p:nvPr/>
        </p:nvSpPr>
        <p:spPr>
          <a:xfrm>
            <a:off x="8001000" y="4078224"/>
            <a:ext cx="1603126" cy="201168"/>
          </a:xfrm>
          <a:prstGeom prst="rect">
            <a:avLst/>
          </a:prstGeom>
          <a:solidFill>
            <a:srgbClr val="2E7D6E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11292840" y="405079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48.7%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8001000" y="44074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IT/ITES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8001000" y="4654296"/>
            <a:ext cx="3291840" cy="201168"/>
          </a:xfrm>
          <a:prstGeom prst="rect">
            <a:avLst/>
          </a:prstGeom>
          <a:solidFill>
            <a:srgbClr val="E9E9E9"/>
          </a:solidFill>
          <a:ln/>
        </p:spPr>
      </p:sp>
      <p:sp>
        <p:nvSpPr>
          <p:cNvPr id="26" name="Shape 23"/>
          <p:cNvSpPr/>
          <p:nvPr/>
        </p:nvSpPr>
        <p:spPr>
          <a:xfrm>
            <a:off x="8001000" y="4654296"/>
            <a:ext cx="2488631" cy="201168"/>
          </a:xfrm>
          <a:prstGeom prst="rect">
            <a:avLst/>
          </a:prstGeom>
          <a:solidFill>
            <a:srgbClr val="B94A48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11292840" y="4626864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75.6%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8001000" y="49834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Renewable Energy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8001000" y="5230368"/>
            <a:ext cx="3291840" cy="201168"/>
          </a:xfrm>
          <a:prstGeom prst="rect">
            <a:avLst/>
          </a:prstGeom>
          <a:solidFill>
            <a:srgbClr val="E9E9E9"/>
          </a:solidFill>
          <a:ln/>
        </p:spPr>
      </p:sp>
      <p:sp>
        <p:nvSpPr>
          <p:cNvPr id="30" name="Shape 27"/>
          <p:cNvSpPr/>
          <p:nvPr/>
        </p:nvSpPr>
        <p:spPr>
          <a:xfrm>
            <a:off x="8001000" y="5230368"/>
            <a:ext cx="2847442" cy="201168"/>
          </a:xfrm>
          <a:prstGeom prst="rect">
            <a:avLst/>
          </a:prstGeom>
          <a:solidFill>
            <a:srgbClr val="B94A48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11292840" y="520293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86.5%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Northeast India Youth Employment &amp; Skill Gap Analysis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ANALYSIS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Assam anchors regional demand, but the gap rate is consistent statewide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430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gap as a share of demand is 56-62% in every state — this is a region-wide shortfall, not a local one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691640"/>
          <a:ext cx="6949440" cy="4617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7635240" y="16916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rate is remarkably uniform across states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635240" y="2194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Assam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0058400" y="21945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7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7635240" y="2560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Tripura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10058400" y="2560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7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57.6%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7635240" y="2926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Meghalaya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10058400" y="2926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7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56.9%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7635240" y="3291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Manipur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10058400" y="3291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7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58.3%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7635240" y="3657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Nagaland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10058400" y="3657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7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58.7%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7635240" y="40233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Arunachal Pradesh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10058400" y="4023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7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56.4%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7635240" y="43891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Mizoram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10058400" y="4389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7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7635240" y="47548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Sikkim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1005840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7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61.9%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7635240" y="5303520"/>
            <a:ext cx="4023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Implication: interventions should be sequenced by sector opportunity size within each state (see Skill Gap Index), not by assuming any one state is a lower priority.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Northeast India Youth Employment &amp; Skill Gap Analysis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CATEGORY ANALYSIS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&amp; IT skills show the sharpest shortage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430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Region-wide gap by skill category, aggregated across all sectors and states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691640"/>
          <a:ext cx="69494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7635240" y="17373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Digital &amp; IT lags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635240" y="2258568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863840" y="212140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access to structured IT/coding training outside state capitals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635240" y="3127248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863840" y="299008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Faster-than-training-can-match sector growth in IT/ITES and Renewable Energy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635240" y="3995928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863840" y="385876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industry-linked apprenticeship pipelines for digital roles vs. traditional trades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635240" y="4864608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863840" y="472744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&amp; IT roles also command the highest average wages — a strong ROI case for targeted upskilling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Northeast India Youth Employment &amp; Skill Gap Analysis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GAP INDEX — CORE OUTPUT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priority segments for intervention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430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 by Skill Gap Index (SGI): severity of shortage + size of opportunity + feasibility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594360" cy="34747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783080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51560" y="1783080"/>
            <a:ext cx="1828800" cy="34747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17830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80360" y="1783080"/>
            <a:ext cx="1874520" cy="34747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880360" y="178308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783080"/>
            <a:ext cx="1234440" cy="34747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54880" y="178308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89320" y="1783080"/>
            <a:ext cx="1234440" cy="34747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89320" y="178308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223760" y="1783080"/>
            <a:ext cx="1143000" cy="34747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223760" y="178308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366760" y="1783080"/>
            <a:ext cx="1280160" cy="34747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366760" y="178308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%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646920" y="1783080"/>
            <a:ext cx="1234440" cy="34747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646920" y="178308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0881360" y="1783080"/>
            <a:ext cx="914400" cy="34747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881360" y="178308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2130552"/>
            <a:ext cx="594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" y="2130552"/>
            <a:ext cx="59436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051560" y="2130552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51560" y="2130552"/>
            <a:ext cx="182880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Assam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880360" y="2130552"/>
            <a:ext cx="18745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880360" y="2130552"/>
            <a:ext cx="187452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Renewable Energy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2130552"/>
            <a:ext cx="1234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754880" y="2130552"/>
            <a:ext cx="123444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7,454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989320" y="2130552"/>
            <a:ext cx="1234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989320" y="2130552"/>
            <a:ext cx="123444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961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223760" y="2130552"/>
            <a:ext cx="1143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223760" y="2130552"/>
            <a:ext cx="114300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6,493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366760" y="2130552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366760" y="2130552"/>
            <a:ext cx="128016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87.1%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9646920" y="2130552"/>
            <a:ext cx="1234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646920" y="2130552"/>
            <a:ext cx="123444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0.55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10881360" y="2130552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881360" y="2130552"/>
            <a:ext cx="91440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7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0.625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57200" y="2514600"/>
            <a:ext cx="594360" cy="384048"/>
          </a:xfrm>
          <a:prstGeom prst="rect">
            <a:avLst/>
          </a:prstGeom>
          <a:solidFill>
            <a:srgbClr val="EAF1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57200" y="2514600"/>
            <a:ext cx="59436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1051560" y="2514600"/>
            <a:ext cx="1828800" cy="384048"/>
          </a:xfrm>
          <a:prstGeom prst="rect">
            <a:avLst/>
          </a:prstGeom>
          <a:solidFill>
            <a:srgbClr val="EAF1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051560" y="2514600"/>
            <a:ext cx="182880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Assam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880360" y="2514600"/>
            <a:ext cx="1874520" cy="384048"/>
          </a:xfrm>
          <a:prstGeom prst="rect">
            <a:avLst/>
          </a:prstGeom>
          <a:solidFill>
            <a:srgbClr val="EAF1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2880360" y="2514600"/>
            <a:ext cx="187452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754880" y="2514600"/>
            <a:ext cx="1234440" cy="384048"/>
          </a:xfrm>
          <a:prstGeom prst="rect">
            <a:avLst/>
          </a:prstGeom>
          <a:solidFill>
            <a:srgbClr val="EAF1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754880" y="2514600"/>
            <a:ext cx="123444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16,295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989320" y="2514600"/>
            <a:ext cx="1234440" cy="384048"/>
          </a:xfrm>
          <a:prstGeom prst="rect">
            <a:avLst/>
          </a:prstGeom>
          <a:solidFill>
            <a:srgbClr val="EAF1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989320" y="2514600"/>
            <a:ext cx="123444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6,155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7223760" y="2514600"/>
            <a:ext cx="1143000" cy="384048"/>
          </a:xfrm>
          <a:prstGeom prst="rect">
            <a:avLst/>
          </a:prstGeom>
          <a:solidFill>
            <a:srgbClr val="EAF1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223760" y="2514600"/>
            <a:ext cx="114300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10,140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8366760" y="2514600"/>
            <a:ext cx="1280160" cy="384048"/>
          </a:xfrm>
          <a:prstGeom prst="rect">
            <a:avLst/>
          </a:prstGeom>
          <a:solidFill>
            <a:srgbClr val="EAF1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8366760" y="2514600"/>
            <a:ext cx="128016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62.2%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9646920" y="2514600"/>
            <a:ext cx="1234440" cy="384048"/>
          </a:xfrm>
          <a:prstGeom prst="rect">
            <a:avLst/>
          </a:prstGeom>
          <a:solidFill>
            <a:srgbClr val="EAF1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9646920" y="2514600"/>
            <a:ext cx="123444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0.68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10881360" y="2514600"/>
            <a:ext cx="914400" cy="384048"/>
          </a:xfrm>
          <a:prstGeom prst="rect">
            <a:avLst/>
          </a:prstGeom>
          <a:solidFill>
            <a:srgbClr val="EAF1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10881360" y="2514600"/>
            <a:ext cx="91440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7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0.622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57200" y="2898648"/>
            <a:ext cx="594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457200" y="2898648"/>
            <a:ext cx="59436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1051560" y="2898648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1051560" y="2898648"/>
            <a:ext cx="182880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Assam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2880360" y="2898648"/>
            <a:ext cx="18745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2880360" y="2898648"/>
            <a:ext cx="187452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4754880" y="2898648"/>
            <a:ext cx="1234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4754880" y="2898648"/>
            <a:ext cx="123444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19,515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5989320" y="2898648"/>
            <a:ext cx="1234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5989320" y="2898648"/>
            <a:ext cx="123444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9,427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7223760" y="2898648"/>
            <a:ext cx="1143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7223760" y="2898648"/>
            <a:ext cx="114300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10,088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8366760" y="2898648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8366760" y="2898648"/>
            <a:ext cx="128016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51.7%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9646920" y="2898648"/>
            <a:ext cx="1234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9646920" y="2898648"/>
            <a:ext cx="123444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0.73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10881360" y="2898648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10881360" y="2898648"/>
            <a:ext cx="91440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7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0.609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457200" y="3282696"/>
            <a:ext cx="594360" cy="384048"/>
          </a:xfrm>
          <a:prstGeom prst="rect">
            <a:avLst/>
          </a:prstGeom>
          <a:solidFill>
            <a:srgbClr val="EAF1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457200" y="3282696"/>
            <a:ext cx="59436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1051560" y="3282696"/>
            <a:ext cx="1828800" cy="384048"/>
          </a:xfrm>
          <a:prstGeom prst="rect">
            <a:avLst/>
          </a:prstGeom>
          <a:solidFill>
            <a:srgbClr val="EAF1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1051560" y="3282696"/>
            <a:ext cx="182880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Assam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2880360" y="3282696"/>
            <a:ext cx="1874520" cy="384048"/>
          </a:xfrm>
          <a:prstGeom prst="rect">
            <a:avLst/>
          </a:prstGeom>
          <a:solidFill>
            <a:srgbClr val="EAF1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2880360" y="3282696"/>
            <a:ext cx="187452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IT/ITES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4754880" y="3282696"/>
            <a:ext cx="1234440" cy="384048"/>
          </a:xfrm>
          <a:prstGeom prst="rect">
            <a:avLst/>
          </a:prstGeom>
          <a:solidFill>
            <a:srgbClr val="EAF1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4754880" y="3282696"/>
            <a:ext cx="123444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12,200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5989320" y="3282696"/>
            <a:ext cx="1234440" cy="384048"/>
          </a:xfrm>
          <a:prstGeom prst="rect">
            <a:avLst/>
          </a:prstGeom>
          <a:solidFill>
            <a:srgbClr val="EAF1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5989320" y="3282696"/>
            <a:ext cx="123444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2,961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7223760" y="3282696"/>
            <a:ext cx="1143000" cy="384048"/>
          </a:xfrm>
          <a:prstGeom prst="rect">
            <a:avLst/>
          </a:prstGeom>
          <a:solidFill>
            <a:srgbClr val="EAF1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7223760" y="3282696"/>
            <a:ext cx="114300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9,239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8366760" y="3282696"/>
            <a:ext cx="1280160" cy="384048"/>
          </a:xfrm>
          <a:prstGeom prst="rect">
            <a:avLst/>
          </a:prstGeom>
          <a:solidFill>
            <a:srgbClr val="EAF1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8366760" y="3282696"/>
            <a:ext cx="128016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75.7%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9646920" y="3282696"/>
            <a:ext cx="1234440" cy="384048"/>
          </a:xfrm>
          <a:prstGeom prst="rect">
            <a:avLst/>
          </a:prstGeom>
          <a:solidFill>
            <a:srgbClr val="EAF1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9646920" y="3282696"/>
            <a:ext cx="123444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0.52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10881360" y="3282696"/>
            <a:ext cx="914400" cy="384048"/>
          </a:xfrm>
          <a:prstGeom prst="rect">
            <a:avLst/>
          </a:prstGeom>
          <a:solidFill>
            <a:srgbClr val="EAF1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10881360" y="3282696"/>
            <a:ext cx="91440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7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0.584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457200" y="3666744"/>
            <a:ext cx="594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457200" y="3666744"/>
            <a:ext cx="59436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50" dirty="0"/>
          </a:p>
        </p:txBody>
      </p:sp>
      <p:sp>
        <p:nvSpPr>
          <p:cNvPr id="98" name="Shape 96"/>
          <p:cNvSpPr/>
          <p:nvPr/>
        </p:nvSpPr>
        <p:spPr>
          <a:xfrm>
            <a:off x="1051560" y="3666744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1051560" y="3666744"/>
            <a:ext cx="182880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Assam</a:t>
            </a:r>
            <a:endParaRPr lang="en-US" sz="950" dirty="0"/>
          </a:p>
        </p:txBody>
      </p:sp>
      <p:sp>
        <p:nvSpPr>
          <p:cNvPr id="100" name="Shape 98"/>
          <p:cNvSpPr/>
          <p:nvPr/>
        </p:nvSpPr>
        <p:spPr>
          <a:xfrm>
            <a:off x="2880360" y="3666744"/>
            <a:ext cx="18745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2880360" y="3666744"/>
            <a:ext cx="187452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Tourism</a:t>
            </a:r>
            <a:endParaRPr lang="en-US" sz="950" dirty="0"/>
          </a:p>
        </p:txBody>
      </p:sp>
      <p:sp>
        <p:nvSpPr>
          <p:cNvPr id="102" name="Shape 100"/>
          <p:cNvSpPr/>
          <p:nvPr/>
        </p:nvSpPr>
        <p:spPr>
          <a:xfrm>
            <a:off x="4754880" y="3666744"/>
            <a:ext cx="1234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4754880" y="3666744"/>
            <a:ext cx="123444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18,288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5989320" y="3666744"/>
            <a:ext cx="1234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5989320" y="3666744"/>
            <a:ext cx="123444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9,575</a:t>
            </a:r>
            <a:endParaRPr lang="en-US" sz="950" dirty="0"/>
          </a:p>
        </p:txBody>
      </p:sp>
      <p:sp>
        <p:nvSpPr>
          <p:cNvPr id="106" name="Shape 104"/>
          <p:cNvSpPr/>
          <p:nvPr/>
        </p:nvSpPr>
        <p:spPr>
          <a:xfrm>
            <a:off x="7223760" y="3666744"/>
            <a:ext cx="1143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7" name="Text 105"/>
          <p:cNvSpPr txBox="1"/>
          <p:nvPr/>
        </p:nvSpPr>
        <p:spPr>
          <a:xfrm>
            <a:off x="7223760" y="3666744"/>
            <a:ext cx="114300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8,713</a:t>
            </a:r>
            <a:endParaRPr lang="en-US" sz="950" dirty="0"/>
          </a:p>
        </p:txBody>
      </p:sp>
      <p:sp>
        <p:nvSpPr>
          <p:cNvPr id="108" name="Shape 106"/>
          <p:cNvSpPr/>
          <p:nvPr/>
        </p:nvSpPr>
        <p:spPr>
          <a:xfrm>
            <a:off x="8366760" y="3666744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8366760" y="3666744"/>
            <a:ext cx="128016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47.6%</a:t>
            </a:r>
            <a:endParaRPr lang="en-US" sz="950" dirty="0"/>
          </a:p>
        </p:txBody>
      </p:sp>
      <p:sp>
        <p:nvSpPr>
          <p:cNvPr id="110" name="Shape 108"/>
          <p:cNvSpPr/>
          <p:nvPr/>
        </p:nvSpPr>
        <p:spPr>
          <a:xfrm>
            <a:off x="9646920" y="3666744"/>
            <a:ext cx="1234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1" name="Text 109"/>
          <p:cNvSpPr txBox="1"/>
          <p:nvPr/>
        </p:nvSpPr>
        <p:spPr>
          <a:xfrm>
            <a:off x="9646920" y="3666744"/>
            <a:ext cx="123444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0.73</a:t>
            </a:r>
            <a:endParaRPr lang="en-US" sz="950" dirty="0"/>
          </a:p>
        </p:txBody>
      </p:sp>
      <p:sp>
        <p:nvSpPr>
          <p:cNvPr id="112" name="Shape 110"/>
          <p:cNvSpPr/>
          <p:nvPr/>
        </p:nvSpPr>
        <p:spPr>
          <a:xfrm>
            <a:off x="10881360" y="3666744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3" name="Text 111"/>
          <p:cNvSpPr txBox="1"/>
          <p:nvPr/>
        </p:nvSpPr>
        <p:spPr>
          <a:xfrm>
            <a:off x="10881360" y="3666744"/>
            <a:ext cx="91440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7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0.550</a:t>
            </a:r>
            <a:endParaRPr lang="en-US" sz="950" dirty="0"/>
          </a:p>
        </p:txBody>
      </p:sp>
      <p:sp>
        <p:nvSpPr>
          <p:cNvPr id="114" name="Shape 112"/>
          <p:cNvSpPr/>
          <p:nvPr/>
        </p:nvSpPr>
        <p:spPr>
          <a:xfrm>
            <a:off x="457200" y="4050792"/>
            <a:ext cx="594360" cy="384048"/>
          </a:xfrm>
          <a:prstGeom prst="rect">
            <a:avLst/>
          </a:prstGeom>
          <a:solidFill>
            <a:srgbClr val="EAF1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5" name="Text 113"/>
          <p:cNvSpPr txBox="1"/>
          <p:nvPr/>
        </p:nvSpPr>
        <p:spPr>
          <a:xfrm>
            <a:off x="457200" y="4050792"/>
            <a:ext cx="59436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50" dirty="0"/>
          </a:p>
        </p:txBody>
      </p:sp>
      <p:sp>
        <p:nvSpPr>
          <p:cNvPr id="116" name="Shape 114"/>
          <p:cNvSpPr/>
          <p:nvPr/>
        </p:nvSpPr>
        <p:spPr>
          <a:xfrm>
            <a:off x="1051560" y="4050792"/>
            <a:ext cx="1828800" cy="384048"/>
          </a:xfrm>
          <a:prstGeom prst="rect">
            <a:avLst/>
          </a:prstGeom>
          <a:solidFill>
            <a:srgbClr val="EAF1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7" name="Text 115"/>
          <p:cNvSpPr txBox="1"/>
          <p:nvPr/>
        </p:nvSpPr>
        <p:spPr>
          <a:xfrm>
            <a:off x="1051560" y="4050792"/>
            <a:ext cx="182880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Assam</a:t>
            </a:r>
            <a:endParaRPr lang="en-US" sz="950" dirty="0"/>
          </a:p>
        </p:txBody>
      </p:sp>
      <p:sp>
        <p:nvSpPr>
          <p:cNvPr id="118" name="Shape 116"/>
          <p:cNvSpPr/>
          <p:nvPr/>
        </p:nvSpPr>
        <p:spPr>
          <a:xfrm>
            <a:off x="2880360" y="4050792"/>
            <a:ext cx="1874520" cy="384048"/>
          </a:xfrm>
          <a:prstGeom prst="rect">
            <a:avLst/>
          </a:prstGeom>
          <a:solidFill>
            <a:srgbClr val="EAF1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9" name="Text 117"/>
          <p:cNvSpPr txBox="1"/>
          <p:nvPr/>
        </p:nvSpPr>
        <p:spPr>
          <a:xfrm>
            <a:off x="2880360" y="4050792"/>
            <a:ext cx="187452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Manufacturing</a:t>
            </a:r>
            <a:endParaRPr lang="en-US" sz="950" dirty="0"/>
          </a:p>
        </p:txBody>
      </p:sp>
      <p:sp>
        <p:nvSpPr>
          <p:cNvPr id="120" name="Shape 118"/>
          <p:cNvSpPr/>
          <p:nvPr/>
        </p:nvSpPr>
        <p:spPr>
          <a:xfrm>
            <a:off x="4754880" y="4050792"/>
            <a:ext cx="1234440" cy="384048"/>
          </a:xfrm>
          <a:prstGeom prst="rect">
            <a:avLst/>
          </a:prstGeom>
          <a:solidFill>
            <a:srgbClr val="EAF1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1" name="Text 119"/>
          <p:cNvSpPr txBox="1"/>
          <p:nvPr/>
        </p:nvSpPr>
        <p:spPr>
          <a:xfrm>
            <a:off x="4754880" y="4050792"/>
            <a:ext cx="123444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20,277</a:t>
            </a:r>
            <a:endParaRPr lang="en-US" sz="950" dirty="0"/>
          </a:p>
        </p:txBody>
      </p:sp>
      <p:sp>
        <p:nvSpPr>
          <p:cNvPr id="122" name="Shape 120"/>
          <p:cNvSpPr/>
          <p:nvPr/>
        </p:nvSpPr>
        <p:spPr>
          <a:xfrm>
            <a:off x="5989320" y="4050792"/>
            <a:ext cx="1234440" cy="384048"/>
          </a:xfrm>
          <a:prstGeom prst="rect">
            <a:avLst/>
          </a:prstGeom>
          <a:solidFill>
            <a:srgbClr val="EAF1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3" name="Text 121"/>
          <p:cNvSpPr txBox="1"/>
          <p:nvPr/>
        </p:nvSpPr>
        <p:spPr>
          <a:xfrm>
            <a:off x="5989320" y="4050792"/>
            <a:ext cx="123444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10,391</a:t>
            </a:r>
            <a:endParaRPr lang="en-US" sz="950" dirty="0"/>
          </a:p>
        </p:txBody>
      </p:sp>
      <p:sp>
        <p:nvSpPr>
          <p:cNvPr id="124" name="Shape 122"/>
          <p:cNvSpPr/>
          <p:nvPr/>
        </p:nvSpPr>
        <p:spPr>
          <a:xfrm>
            <a:off x="7223760" y="4050792"/>
            <a:ext cx="1143000" cy="384048"/>
          </a:xfrm>
          <a:prstGeom prst="rect">
            <a:avLst/>
          </a:prstGeom>
          <a:solidFill>
            <a:srgbClr val="EAF1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5" name="Text 123"/>
          <p:cNvSpPr txBox="1"/>
          <p:nvPr/>
        </p:nvSpPr>
        <p:spPr>
          <a:xfrm>
            <a:off x="7223760" y="4050792"/>
            <a:ext cx="114300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9,886</a:t>
            </a:r>
            <a:endParaRPr lang="en-US" sz="950" dirty="0"/>
          </a:p>
        </p:txBody>
      </p:sp>
      <p:sp>
        <p:nvSpPr>
          <p:cNvPr id="126" name="Shape 124"/>
          <p:cNvSpPr/>
          <p:nvPr/>
        </p:nvSpPr>
        <p:spPr>
          <a:xfrm>
            <a:off x="8366760" y="4050792"/>
            <a:ext cx="1280160" cy="384048"/>
          </a:xfrm>
          <a:prstGeom prst="rect">
            <a:avLst/>
          </a:prstGeom>
          <a:solidFill>
            <a:srgbClr val="EAF1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7" name="Text 125"/>
          <p:cNvSpPr txBox="1"/>
          <p:nvPr/>
        </p:nvSpPr>
        <p:spPr>
          <a:xfrm>
            <a:off x="8366760" y="4050792"/>
            <a:ext cx="128016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48.8%</a:t>
            </a:r>
            <a:endParaRPr lang="en-US" sz="950" dirty="0"/>
          </a:p>
        </p:txBody>
      </p:sp>
      <p:sp>
        <p:nvSpPr>
          <p:cNvPr id="128" name="Shape 126"/>
          <p:cNvSpPr/>
          <p:nvPr/>
        </p:nvSpPr>
        <p:spPr>
          <a:xfrm>
            <a:off x="9646920" y="4050792"/>
            <a:ext cx="1234440" cy="384048"/>
          </a:xfrm>
          <a:prstGeom prst="rect">
            <a:avLst/>
          </a:prstGeom>
          <a:solidFill>
            <a:srgbClr val="EAF1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9" name="Text 127"/>
          <p:cNvSpPr txBox="1"/>
          <p:nvPr/>
        </p:nvSpPr>
        <p:spPr>
          <a:xfrm>
            <a:off x="9646920" y="4050792"/>
            <a:ext cx="123444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0.64</a:t>
            </a:r>
            <a:endParaRPr lang="en-US" sz="950" dirty="0"/>
          </a:p>
        </p:txBody>
      </p:sp>
      <p:sp>
        <p:nvSpPr>
          <p:cNvPr id="130" name="Shape 128"/>
          <p:cNvSpPr/>
          <p:nvPr/>
        </p:nvSpPr>
        <p:spPr>
          <a:xfrm>
            <a:off x="10881360" y="4050792"/>
            <a:ext cx="914400" cy="384048"/>
          </a:xfrm>
          <a:prstGeom prst="rect">
            <a:avLst/>
          </a:prstGeom>
          <a:solidFill>
            <a:srgbClr val="EAF1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1" name="Text 129"/>
          <p:cNvSpPr txBox="1"/>
          <p:nvPr/>
        </p:nvSpPr>
        <p:spPr>
          <a:xfrm>
            <a:off x="10881360" y="4050792"/>
            <a:ext cx="91440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7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0.544</a:t>
            </a:r>
            <a:endParaRPr lang="en-US" sz="950" dirty="0"/>
          </a:p>
        </p:txBody>
      </p:sp>
      <p:sp>
        <p:nvSpPr>
          <p:cNvPr id="132" name="Shape 130"/>
          <p:cNvSpPr/>
          <p:nvPr/>
        </p:nvSpPr>
        <p:spPr>
          <a:xfrm>
            <a:off x="457200" y="4434840"/>
            <a:ext cx="594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3" name="Text 131"/>
          <p:cNvSpPr txBox="1"/>
          <p:nvPr/>
        </p:nvSpPr>
        <p:spPr>
          <a:xfrm>
            <a:off x="457200" y="4434840"/>
            <a:ext cx="59436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50" dirty="0"/>
          </a:p>
        </p:txBody>
      </p:sp>
      <p:sp>
        <p:nvSpPr>
          <p:cNvPr id="134" name="Shape 132"/>
          <p:cNvSpPr/>
          <p:nvPr/>
        </p:nvSpPr>
        <p:spPr>
          <a:xfrm>
            <a:off x="1051560" y="4434840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5" name="Text 133"/>
          <p:cNvSpPr txBox="1"/>
          <p:nvPr/>
        </p:nvSpPr>
        <p:spPr>
          <a:xfrm>
            <a:off x="1051560" y="4434840"/>
            <a:ext cx="182880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Tripura</a:t>
            </a:r>
            <a:endParaRPr lang="en-US" sz="950" dirty="0"/>
          </a:p>
        </p:txBody>
      </p:sp>
      <p:sp>
        <p:nvSpPr>
          <p:cNvPr id="136" name="Shape 134"/>
          <p:cNvSpPr/>
          <p:nvPr/>
        </p:nvSpPr>
        <p:spPr>
          <a:xfrm>
            <a:off x="2880360" y="4434840"/>
            <a:ext cx="18745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7" name="Text 135"/>
          <p:cNvSpPr txBox="1"/>
          <p:nvPr/>
        </p:nvSpPr>
        <p:spPr>
          <a:xfrm>
            <a:off x="2880360" y="4434840"/>
            <a:ext cx="187452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Renewable Energy</a:t>
            </a:r>
            <a:endParaRPr lang="en-US" sz="950" dirty="0"/>
          </a:p>
        </p:txBody>
      </p:sp>
      <p:sp>
        <p:nvSpPr>
          <p:cNvPr id="138" name="Shape 136"/>
          <p:cNvSpPr/>
          <p:nvPr/>
        </p:nvSpPr>
        <p:spPr>
          <a:xfrm>
            <a:off x="4754880" y="4434840"/>
            <a:ext cx="1234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9" name="Text 137"/>
          <p:cNvSpPr txBox="1"/>
          <p:nvPr/>
        </p:nvSpPr>
        <p:spPr>
          <a:xfrm>
            <a:off x="4754880" y="4434840"/>
            <a:ext cx="123444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560</a:t>
            </a:r>
            <a:endParaRPr lang="en-US" sz="950" dirty="0"/>
          </a:p>
        </p:txBody>
      </p:sp>
      <p:sp>
        <p:nvSpPr>
          <p:cNvPr id="140" name="Shape 138"/>
          <p:cNvSpPr/>
          <p:nvPr/>
        </p:nvSpPr>
        <p:spPr>
          <a:xfrm>
            <a:off x="5989320" y="4434840"/>
            <a:ext cx="1234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41" name="Text 139"/>
          <p:cNvSpPr txBox="1"/>
          <p:nvPr/>
        </p:nvSpPr>
        <p:spPr>
          <a:xfrm>
            <a:off x="5989320" y="4434840"/>
            <a:ext cx="123444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</a:t>
            </a:r>
            <a:endParaRPr lang="en-US" sz="950" dirty="0"/>
          </a:p>
        </p:txBody>
      </p:sp>
      <p:sp>
        <p:nvSpPr>
          <p:cNvPr id="142" name="Shape 140"/>
          <p:cNvSpPr/>
          <p:nvPr/>
        </p:nvSpPr>
        <p:spPr>
          <a:xfrm>
            <a:off x="7223760" y="4434840"/>
            <a:ext cx="1143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43" name="Text 141"/>
          <p:cNvSpPr txBox="1"/>
          <p:nvPr/>
        </p:nvSpPr>
        <p:spPr>
          <a:xfrm>
            <a:off x="7223760" y="4434840"/>
            <a:ext cx="114300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494</a:t>
            </a:r>
            <a:endParaRPr lang="en-US" sz="950" dirty="0"/>
          </a:p>
        </p:txBody>
      </p:sp>
      <p:sp>
        <p:nvSpPr>
          <p:cNvPr id="144" name="Shape 142"/>
          <p:cNvSpPr/>
          <p:nvPr/>
        </p:nvSpPr>
        <p:spPr>
          <a:xfrm>
            <a:off x="8366760" y="4434840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45" name="Text 143"/>
          <p:cNvSpPr txBox="1"/>
          <p:nvPr/>
        </p:nvSpPr>
        <p:spPr>
          <a:xfrm>
            <a:off x="8366760" y="4434840"/>
            <a:ext cx="128016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88.2%</a:t>
            </a:r>
            <a:endParaRPr lang="en-US" sz="950" dirty="0"/>
          </a:p>
        </p:txBody>
      </p:sp>
      <p:sp>
        <p:nvSpPr>
          <p:cNvPr id="146" name="Shape 144"/>
          <p:cNvSpPr/>
          <p:nvPr/>
        </p:nvSpPr>
        <p:spPr>
          <a:xfrm>
            <a:off x="9646920" y="4434840"/>
            <a:ext cx="1234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47" name="Text 145"/>
          <p:cNvSpPr txBox="1"/>
          <p:nvPr/>
        </p:nvSpPr>
        <p:spPr>
          <a:xfrm>
            <a:off x="9646920" y="4434840"/>
            <a:ext cx="123444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0.54</a:t>
            </a:r>
            <a:endParaRPr lang="en-US" sz="950" dirty="0"/>
          </a:p>
        </p:txBody>
      </p:sp>
      <p:sp>
        <p:nvSpPr>
          <p:cNvPr id="148" name="Shape 146"/>
          <p:cNvSpPr/>
          <p:nvPr/>
        </p:nvSpPr>
        <p:spPr>
          <a:xfrm>
            <a:off x="10881360" y="4434840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49" name="Text 147"/>
          <p:cNvSpPr txBox="1"/>
          <p:nvPr/>
        </p:nvSpPr>
        <p:spPr>
          <a:xfrm>
            <a:off x="10881360" y="4434840"/>
            <a:ext cx="91440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7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0.510</a:t>
            </a:r>
            <a:endParaRPr lang="en-US" sz="950" dirty="0"/>
          </a:p>
        </p:txBody>
      </p:sp>
      <p:sp>
        <p:nvSpPr>
          <p:cNvPr id="150" name="Shape 148"/>
          <p:cNvSpPr/>
          <p:nvPr/>
        </p:nvSpPr>
        <p:spPr>
          <a:xfrm>
            <a:off x="457200" y="4818888"/>
            <a:ext cx="594360" cy="384048"/>
          </a:xfrm>
          <a:prstGeom prst="rect">
            <a:avLst/>
          </a:prstGeom>
          <a:solidFill>
            <a:srgbClr val="EAF1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1" name="Text 149"/>
          <p:cNvSpPr txBox="1"/>
          <p:nvPr/>
        </p:nvSpPr>
        <p:spPr>
          <a:xfrm>
            <a:off x="457200" y="4818888"/>
            <a:ext cx="59436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50" dirty="0"/>
          </a:p>
        </p:txBody>
      </p:sp>
      <p:sp>
        <p:nvSpPr>
          <p:cNvPr id="152" name="Shape 150"/>
          <p:cNvSpPr/>
          <p:nvPr/>
        </p:nvSpPr>
        <p:spPr>
          <a:xfrm>
            <a:off x="1051560" y="4818888"/>
            <a:ext cx="1828800" cy="384048"/>
          </a:xfrm>
          <a:prstGeom prst="rect">
            <a:avLst/>
          </a:prstGeom>
          <a:solidFill>
            <a:srgbClr val="EAF1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3" name="Text 151"/>
          <p:cNvSpPr txBox="1"/>
          <p:nvPr/>
        </p:nvSpPr>
        <p:spPr>
          <a:xfrm>
            <a:off x="1051560" y="4818888"/>
            <a:ext cx="182880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Nagaland</a:t>
            </a:r>
            <a:endParaRPr lang="en-US" sz="950" dirty="0"/>
          </a:p>
        </p:txBody>
      </p:sp>
      <p:sp>
        <p:nvSpPr>
          <p:cNvPr id="154" name="Shape 152"/>
          <p:cNvSpPr/>
          <p:nvPr/>
        </p:nvSpPr>
        <p:spPr>
          <a:xfrm>
            <a:off x="2880360" y="4818888"/>
            <a:ext cx="1874520" cy="384048"/>
          </a:xfrm>
          <a:prstGeom prst="rect">
            <a:avLst/>
          </a:prstGeom>
          <a:solidFill>
            <a:srgbClr val="EAF1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5" name="Text 153"/>
          <p:cNvSpPr txBox="1"/>
          <p:nvPr/>
        </p:nvSpPr>
        <p:spPr>
          <a:xfrm>
            <a:off x="2880360" y="4818888"/>
            <a:ext cx="187452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Renewable Energy</a:t>
            </a:r>
            <a:endParaRPr lang="en-US" sz="950" dirty="0"/>
          </a:p>
        </p:txBody>
      </p:sp>
      <p:sp>
        <p:nvSpPr>
          <p:cNvPr id="156" name="Shape 154"/>
          <p:cNvSpPr/>
          <p:nvPr/>
        </p:nvSpPr>
        <p:spPr>
          <a:xfrm>
            <a:off x="4754880" y="4818888"/>
            <a:ext cx="1234440" cy="384048"/>
          </a:xfrm>
          <a:prstGeom prst="rect">
            <a:avLst/>
          </a:prstGeom>
          <a:solidFill>
            <a:srgbClr val="EAF1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7" name="Text 155"/>
          <p:cNvSpPr txBox="1"/>
          <p:nvPr/>
        </p:nvSpPr>
        <p:spPr>
          <a:xfrm>
            <a:off x="4754880" y="4818888"/>
            <a:ext cx="123444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212</a:t>
            </a:r>
            <a:endParaRPr lang="en-US" sz="950" dirty="0"/>
          </a:p>
        </p:txBody>
      </p:sp>
      <p:sp>
        <p:nvSpPr>
          <p:cNvPr id="158" name="Shape 156"/>
          <p:cNvSpPr/>
          <p:nvPr/>
        </p:nvSpPr>
        <p:spPr>
          <a:xfrm>
            <a:off x="5989320" y="4818888"/>
            <a:ext cx="1234440" cy="384048"/>
          </a:xfrm>
          <a:prstGeom prst="rect">
            <a:avLst/>
          </a:prstGeom>
          <a:solidFill>
            <a:srgbClr val="EAF1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9" name="Text 157"/>
          <p:cNvSpPr txBox="1"/>
          <p:nvPr/>
        </p:nvSpPr>
        <p:spPr>
          <a:xfrm>
            <a:off x="5989320" y="4818888"/>
            <a:ext cx="123444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950" dirty="0"/>
          </a:p>
        </p:txBody>
      </p:sp>
      <p:sp>
        <p:nvSpPr>
          <p:cNvPr id="160" name="Shape 158"/>
          <p:cNvSpPr/>
          <p:nvPr/>
        </p:nvSpPr>
        <p:spPr>
          <a:xfrm>
            <a:off x="7223760" y="4818888"/>
            <a:ext cx="1143000" cy="384048"/>
          </a:xfrm>
          <a:prstGeom prst="rect">
            <a:avLst/>
          </a:prstGeom>
          <a:solidFill>
            <a:srgbClr val="EAF1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1" name="Text 159"/>
          <p:cNvSpPr txBox="1"/>
          <p:nvPr/>
        </p:nvSpPr>
        <p:spPr>
          <a:xfrm>
            <a:off x="7223760" y="4818888"/>
            <a:ext cx="114300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173</a:t>
            </a:r>
            <a:endParaRPr lang="en-US" sz="950" dirty="0"/>
          </a:p>
        </p:txBody>
      </p:sp>
      <p:sp>
        <p:nvSpPr>
          <p:cNvPr id="162" name="Shape 160"/>
          <p:cNvSpPr/>
          <p:nvPr/>
        </p:nvSpPr>
        <p:spPr>
          <a:xfrm>
            <a:off x="8366760" y="4818888"/>
            <a:ext cx="1280160" cy="384048"/>
          </a:xfrm>
          <a:prstGeom prst="rect">
            <a:avLst/>
          </a:prstGeom>
          <a:solidFill>
            <a:srgbClr val="EAF1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3" name="Text 161"/>
          <p:cNvSpPr txBox="1"/>
          <p:nvPr/>
        </p:nvSpPr>
        <p:spPr>
          <a:xfrm>
            <a:off x="8366760" y="4818888"/>
            <a:ext cx="128016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81.6%</a:t>
            </a:r>
            <a:endParaRPr lang="en-US" sz="950" dirty="0"/>
          </a:p>
        </p:txBody>
      </p:sp>
      <p:sp>
        <p:nvSpPr>
          <p:cNvPr id="164" name="Shape 162"/>
          <p:cNvSpPr/>
          <p:nvPr/>
        </p:nvSpPr>
        <p:spPr>
          <a:xfrm>
            <a:off x="9646920" y="4818888"/>
            <a:ext cx="1234440" cy="384048"/>
          </a:xfrm>
          <a:prstGeom prst="rect">
            <a:avLst/>
          </a:prstGeom>
          <a:solidFill>
            <a:srgbClr val="EAF1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5" name="Text 163"/>
          <p:cNvSpPr txBox="1"/>
          <p:nvPr/>
        </p:nvSpPr>
        <p:spPr>
          <a:xfrm>
            <a:off x="9646920" y="4818888"/>
            <a:ext cx="123444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0.55</a:t>
            </a:r>
            <a:endParaRPr lang="en-US" sz="950" dirty="0"/>
          </a:p>
        </p:txBody>
      </p:sp>
      <p:sp>
        <p:nvSpPr>
          <p:cNvPr id="166" name="Shape 164"/>
          <p:cNvSpPr/>
          <p:nvPr/>
        </p:nvSpPr>
        <p:spPr>
          <a:xfrm>
            <a:off x="10881360" y="4818888"/>
            <a:ext cx="914400" cy="384048"/>
          </a:xfrm>
          <a:prstGeom prst="rect">
            <a:avLst/>
          </a:prstGeom>
          <a:solidFill>
            <a:srgbClr val="EAF1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7" name="Text 165"/>
          <p:cNvSpPr txBox="1"/>
          <p:nvPr/>
        </p:nvSpPr>
        <p:spPr>
          <a:xfrm>
            <a:off x="10881360" y="4818888"/>
            <a:ext cx="91440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7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0.448</a:t>
            </a:r>
            <a:endParaRPr lang="en-US" sz="950" dirty="0"/>
          </a:p>
        </p:txBody>
      </p:sp>
      <p:sp>
        <p:nvSpPr>
          <p:cNvPr id="168" name="Shape 166"/>
          <p:cNvSpPr/>
          <p:nvPr/>
        </p:nvSpPr>
        <p:spPr>
          <a:xfrm>
            <a:off x="457200" y="5202936"/>
            <a:ext cx="594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9" name="Text 167"/>
          <p:cNvSpPr txBox="1"/>
          <p:nvPr/>
        </p:nvSpPr>
        <p:spPr>
          <a:xfrm>
            <a:off x="457200" y="5202936"/>
            <a:ext cx="59436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50" dirty="0"/>
          </a:p>
        </p:txBody>
      </p:sp>
      <p:sp>
        <p:nvSpPr>
          <p:cNvPr id="170" name="Shape 168"/>
          <p:cNvSpPr/>
          <p:nvPr/>
        </p:nvSpPr>
        <p:spPr>
          <a:xfrm>
            <a:off x="1051560" y="5202936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71" name="Text 169"/>
          <p:cNvSpPr txBox="1"/>
          <p:nvPr/>
        </p:nvSpPr>
        <p:spPr>
          <a:xfrm>
            <a:off x="1051560" y="5202936"/>
            <a:ext cx="182880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Meghalaya</a:t>
            </a:r>
            <a:endParaRPr lang="en-US" sz="950" dirty="0"/>
          </a:p>
        </p:txBody>
      </p:sp>
      <p:sp>
        <p:nvSpPr>
          <p:cNvPr id="172" name="Shape 170"/>
          <p:cNvSpPr/>
          <p:nvPr/>
        </p:nvSpPr>
        <p:spPr>
          <a:xfrm>
            <a:off x="2880360" y="5202936"/>
            <a:ext cx="18745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73" name="Text 171"/>
          <p:cNvSpPr txBox="1"/>
          <p:nvPr/>
        </p:nvSpPr>
        <p:spPr>
          <a:xfrm>
            <a:off x="2880360" y="5202936"/>
            <a:ext cx="187452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Renewable Energy</a:t>
            </a:r>
            <a:endParaRPr lang="en-US" sz="950" dirty="0"/>
          </a:p>
        </p:txBody>
      </p:sp>
      <p:sp>
        <p:nvSpPr>
          <p:cNvPr id="174" name="Shape 172"/>
          <p:cNvSpPr/>
          <p:nvPr/>
        </p:nvSpPr>
        <p:spPr>
          <a:xfrm>
            <a:off x="4754880" y="5202936"/>
            <a:ext cx="1234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75" name="Text 173"/>
          <p:cNvSpPr txBox="1"/>
          <p:nvPr/>
        </p:nvSpPr>
        <p:spPr>
          <a:xfrm>
            <a:off x="4754880" y="5202936"/>
            <a:ext cx="123444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513</a:t>
            </a:r>
            <a:endParaRPr lang="en-US" sz="950" dirty="0"/>
          </a:p>
        </p:txBody>
      </p:sp>
      <p:sp>
        <p:nvSpPr>
          <p:cNvPr id="176" name="Shape 174"/>
          <p:cNvSpPr/>
          <p:nvPr/>
        </p:nvSpPr>
        <p:spPr>
          <a:xfrm>
            <a:off x="5989320" y="5202936"/>
            <a:ext cx="1234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77" name="Text 175"/>
          <p:cNvSpPr txBox="1"/>
          <p:nvPr/>
        </p:nvSpPr>
        <p:spPr>
          <a:xfrm>
            <a:off x="5989320" y="5202936"/>
            <a:ext cx="123444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</a:t>
            </a:r>
            <a:endParaRPr lang="en-US" sz="950" dirty="0"/>
          </a:p>
        </p:txBody>
      </p:sp>
      <p:sp>
        <p:nvSpPr>
          <p:cNvPr id="178" name="Shape 176"/>
          <p:cNvSpPr/>
          <p:nvPr/>
        </p:nvSpPr>
        <p:spPr>
          <a:xfrm>
            <a:off x="7223760" y="5202936"/>
            <a:ext cx="1143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79" name="Text 177"/>
          <p:cNvSpPr txBox="1"/>
          <p:nvPr/>
        </p:nvSpPr>
        <p:spPr>
          <a:xfrm>
            <a:off x="7223760" y="5202936"/>
            <a:ext cx="114300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434</a:t>
            </a:r>
            <a:endParaRPr lang="en-US" sz="950" dirty="0"/>
          </a:p>
        </p:txBody>
      </p:sp>
      <p:sp>
        <p:nvSpPr>
          <p:cNvPr id="180" name="Shape 178"/>
          <p:cNvSpPr/>
          <p:nvPr/>
        </p:nvSpPr>
        <p:spPr>
          <a:xfrm>
            <a:off x="8366760" y="5202936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81" name="Text 179"/>
          <p:cNvSpPr txBox="1"/>
          <p:nvPr/>
        </p:nvSpPr>
        <p:spPr>
          <a:xfrm>
            <a:off x="8366760" y="5202936"/>
            <a:ext cx="128016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84.6%</a:t>
            </a:r>
            <a:endParaRPr lang="en-US" sz="950" dirty="0"/>
          </a:p>
        </p:txBody>
      </p:sp>
      <p:sp>
        <p:nvSpPr>
          <p:cNvPr id="182" name="Shape 180"/>
          <p:cNvSpPr/>
          <p:nvPr/>
        </p:nvSpPr>
        <p:spPr>
          <a:xfrm>
            <a:off x="9646920" y="5202936"/>
            <a:ext cx="1234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83" name="Text 181"/>
          <p:cNvSpPr txBox="1"/>
          <p:nvPr/>
        </p:nvSpPr>
        <p:spPr>
          <a:xfrm>
            <a:off x="9646920" y="5202936"/>
            <a:ext cx="123444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0.48</a:t>
            </a:r>
            <a:endParaRPr lang="en-US" sz="950" dirty="0"/>
          </a:p>
        </p:txBody>
      </p:sp>
      <p:sp>
        <p:nvSpPr>
          <p:cNvPr id="184" name="Shape 182"/>
          <p:cNvSpPr/>
          <p:nvPr/>
        </p:nvSpPr>
        <p:spPr>
          <a:xfrm>
            <a:off x="10881360" y="5202936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85" name="Text 183"/>
          <p:cNvSpPr txBox="1"/>
          <p:nvPr/>
        </p:nvSpPr>
        <p:spPr>
          <a:xfrm>
            <a:off x="10881360" y="5202936"/>
            <a:ext cx="91440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7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0.441</a:t>
            </a:r>
            <a:endParaRPr lang="en-US" sz="950" dirty="0"/>
          </a:p>
        </p:txBody>
      </p:sp>
      <p:sp>
        <p:nvSpPr>
          <p:cNvPr id="186" name="Shape 184"/>
          <p:cNvSpPr/>
          <p:nvPr/>
        </p:nvSpPr>
        <p:spPr>
          <a:xfrm>
            <a:off x="457200" y="5586984"/>
            <a:ext cx="594360" cy="384048"/>
          </a:xfrm>
          <a:prstGeom prst="rect">
            <a:avLst/>
          </a:prstGeom>
          <a:solidFill>
            <a:srgbClr val="EAF1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87" name="Text 185"/>
          <p:cNvSpPr txBox="1"/>
          <p:nvPr/>
        </p:nvSpPr>
        <p:spPr>
          <a:xfrm>
            <a:off x="457200" y="5586984"/>
            <a:ext cx="59436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50" dirty="0"/>
          </a:p>
        </p:txBody>
      </p:sp>
      <p:sp>
        <p:nvSpPr>
          <p:cNvPr id="188" name="Shape 186"/>
          <p:cNvSpPr/>
          <p:nvPr/>
        </p:nvSpPr>
        <p:spPr>
          <a:xfrm>
            <a:off x="1051560" y="5586984"/>
            <a:ext cx="1828800" cy="384048"/>
          </a:xfrm>
          <a:prstGeom prst="rect">
            <a:avLst/>
          </a:prstGeom>
          <a:solidFill>
            <a:srgbClr val="EAF1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89" name="Text 187"/>
          <p:cNvSpPr txBox="1"/>
          <p:nvPr/>
        </p:nvSpPr>
        <p:spPr>
          <a:xfrm>
            <a:off x="1051560" y="5586984"/>
            <a:ext cx="182880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Sikkim</a:t>
            </a:r>
            <a:endParaRPr lang="en-US" sz="950" dirty="0"/>
          </a:p>
        </p:txBody>
      </p:sp>
      <p:sp>
        <p:nvSpPr>
          <p:cNvPr id="190" name="Shape 188"/>
          <p:cNvSpPr/>
          <p:nvPr/>
        </p:nvSpPr>
        <p:spPr>
          <a:xfrm>
            <a:off x="2880360" y="5586984"/>
            <a:ext cx="1874520" cy="384048"/>
          </a:xfrm>
          <a:prstGeom prst="rect">
            <a:avLst/>
          </a:prstGeom>
          <a:solidFill>
            <a:srgbClr val="EAF1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1" name="Text 189"/>
          <p:cNvSpPr txBox="1"/>
          <p:nvPr/>
        </p:nvSpPr>
        <p:spPr>
          <a:xfrm>
            <a:off x="2880360" y="5586984"/>
            <a:ext cx="187452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Renewable Energy</a:t>
            </a:r>
            <a:endParaRPr lang="en-US" sz="950" dirty="0"/>
          </a:p>
        </p:txBody>
      </p:sp>
      <p:sp>
        <p:nvSpPr>
          <p:cNvPr id="192" name="Shape 190"/>
          <p:cNvSpPr/>
          <p:nvPr/>
        </p:nvSpPr>
        <p:spPr>
          <a:xfrm>
            <a:off x="4754880" y="5586984"/>
            <a:ext cx="1234440" cy="384048"/>
          </a:xfrm>
          <a:prstGeom prst="rect">
            <a:avLst/>
          </a:prstGeom>
          <a:solidFill>
            <a:srgbClr val="EAF1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3" name="Text 191"/>
          <p:cNvSpPr txBox="1"/>
          <p:nvPr/>
        </p:nvSpPr>
        <p:spPr>
          <a:xfrm>
            <a:off x="4754880" y="5586984"/>
            <a:ext cx="123444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</a:t>
            </a:r>
            <a:endParaRPr lang="en-US" sz="950" dirty="0"/>
          </a:p>
        </p:txBody>
      </p:sp>
      <p:sp>
        <p:nvSpPr>
          <p:cNvPr id="194" name="Shape 192"/>
          <p:cNvSpPr/>
          <p:nvPr/>
        </p:nvSpPr>
        <p:spPr>
          <a:xfrm>
            <a:off x="5989320" y="5586984"/>
            <a:ext cx="1234440" cy="384048"/>
          </a:xfrm>
          <a:prstGeom prst="rect">
            <a:avLst/>
          </a:prstGeom>
          <a:solidFill>
            <a:srgbClr val="EAF1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5" name="Text 193"/>
          <p:cNvSpPr txBox="1"/>
          <p:nvPr/>
        </p:nvSpPr>
        <p:spPr>
          <a:xfrm>
            <a:off x="5989320" y="5586984"/>
            <a:ext cx="123444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50" dirty="0"/>
          </a:p>
        </p:txBody>
      </p:sp>
      <p:sp>
        <p:nvSpPr>
          <p:cNvPr id="196" name="Shape 194"/>
          <p:cNvSpPr/>
          <p:nvPr/>
        </p:nvSpPr>
        <p:spPr>
          <a:xfrm>
            <a:off x="7223760" y="5586984"/>
            <a:ext cx="1143000" cy="384048"/>
          </a:xfrm>
          <a:prstGeom prst="rect">
            <a:avLst/>
          </a:prstGeom>
          <a:solidFill>
            <a:srgbClr val="EAF1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7" name="Text 195"/>
          <p:cNvSpPr txBox="1"/>
          <p:nvPr/>
        </p:nvSpPr>
        <p:spPr>
          <a:xfrm>
            <a:off x="7223760" y="5586984"/>
            <a:ext cx="114300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</a:t>
            </a:r>
            <a:endParaRPr lang="en-US" sz="950" dirty="0"/>
          </a:p>
        </p:txBody>
      </p:sp>
      <p:sp>
        <p:nvSpPr>
          <p:cNvPr id="198" name="Shape 196"/>
          <p:cNvSpPr/>
          <p:nvPr/>
        </p:nvSpPr>
        <p:spPr>
          <a:xfrm>
            <a:off x="8366760" y="5586984"/>
            <a:ext cx="1280160" cy="384048"/>
          </a:xfrm>
          <a:prstGeom prst="rect">
            <a:avLst/>
          </a:prstGeom>
          <a:solidFill>
            <a:srgbClr val="EAF1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9" name="Text 197"/>
          <p:cNvSpPr txBox="1"/>
          <p:nvPr/>
        </p:nvSpPr>
        <p:spPr>
          <a:xfrm>
            <a:off x="8366760" y="5586984"/>
            <a:ext cx="128016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80.9%</a:t>
            </a:r>
            <a:endParaRPr lang="en-US" sz="950" dirty="0"/>
          </a:p>
        </p:txBody>
      </p:sp>
      <p:sp>
        <p:nvSpPr>
          <p:cNvPr id="200" name="Shape 198"/>
          <p:cNvSpPr/>
          <p:nvPr/>
        </p:nvSpPr>
        <p:spPr>
          <a:xfrm>
            <a:off x="9646920" y="5586984"/>
            <a:ext cx="1234440" cy="384048"/>
          </a:xfrm>
          <a:prstGeom prst="rect">
            <a:avLst/>
          </a:prstGeom>
          <a:solidFill>
            <a:srgbClr val="EAF1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01" name="Text 199"/>
          <p:cNvSpPr txBox="1"/>
          <p:nvPr/>
        </p:nvSpPr>
        <p:spPr>
          <a:xfrm>
            <a:off x="9646920" y="5586984"/>
            <a:ext cx="123444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0.55</a:t>
            </a:r>
            <a:endParaRPr lang="en-US" sz="950" dirty="0"/>
          </a:p>
        </p:txBody>
      </p:sp>
      <p:sp>
        <p:nvSpPr>
          <p:cNvPr id="202" name="Shape 200"/>
          <p:cNvSpPr/>
          <p:nvPr/>
        </p:nvSpPr>
        <p:spPr>
          <a:xfrm>
            <a:off x="10881360" y="5586984"/>
            <a:ext cx="914400" cy="384048"/>
          </a:xfrm>
          <a:prstGeom prst="rect">
            <a:avLst/>
          </a:prstGeom>
          <a:solidFill>
            <a:srgbClr val="EAF1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03" name="Text 201"/>
          <p:cNvSpPr txBox="1"/>
          <p:nvPr/>
        </p:nvSpPr>
        <p:spPr>
          <a:xfrm>
            <a:off x="10881360" y="5586984"/>
            <a:ext cx="914400" cy="3840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7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0.440</a:t>
            </a:r>
            <a:endParaRPr lang="en-US" sz="950" dirty="0"/>
          </a:p>
        </p:txBody>
      </p:sp>
      <p:sp>
        <p:nvSpPr>
          <p:cNvPr id="204" name="Text 202"/>
          <p:cNvSpPr txBox="1"/>
          <p:nvPr/>
        </p:nvSpPr>
        <p:spPr>
          <a:xfrm>
            <a:off x="457200" y="61722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Assam's Renewable Energy and Logistics segments top the list — large, growing sectors with acute shortages and workable feasibility scores.</a:t>
            </a:r>
            <a:endParaRPr lang="en-US" sz="1050" dirty="0"/>
          </a:p>
        </p:txBody>
      </p:sp>
      <p:sp>
        <p:nvSpPr>
          <p:cNvPr id="205" name="Text 20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Northeast India Youth Employment &amp; Skill Gap Analysis</a:t>
            </a:r>
            <a:endParaRPr lang="en-US" sz="900" dirty="0"/>
          </a:p>
        </p:txBody>
      </p:sp>
      <p:sp>
        <p:nvSpPr>
          <p:cNvPr id="206" name="Text 204"/>
          <p:cNvSpPr txBox="1"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intervention roadmap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430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Matched to the highest Skill Gap Index segments, sequenced by feasibility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3657600" cy="502920"/>
          </a:xfrm>
          <a:prstGeom prst="roundRect">
            <a:avLst>
              <a:gd name="adj" fmla="val 9091"/>
            </a:avLst>
          </a:prstGeom>
          <a:solidFill>
            <a:srgbClr val="2E7D6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7830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(0-12 months)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3657600" cy="3611880"/>
          </a:xfrm>
          <a:prstGeom prst="roundRect">
            <a:avLst>
              <a:gd name="adj" fmla="val 1266"/>
            </a:avLst>
          </a:prstGeom>
          <a:solidFill>
            <a:srgbClr val="EAF1F8"/>
          </a:solidFill>
          <a:ln w="12700">
            <a:solidFill>
              <a:srgbClr val="D6E0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560320"/>
            <a:ext cx="32004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Fast-track Digital &amp; IT bootcamps in Assam, Meghalaya &amp; Tripura — highest-wage, highest-gap category, shortest training-to-hire cycle</a:t>
            </a:r>
            <a:endParaRPr lang="en-US" sz="11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tourism hospitality &amp; guide-training certification in Meghalaya, Sikkim, Nagaland — high feasibility, fast absorption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61104" y="1783080"/>
            <a:ext cx="3657600" cy="502920"/>
          </a:xfrm>
          <a:prstGeom prst="roundRect">
            <a:avLst>
              <a:gd name="adj" fmla="val 9091"/>
            </a:avLst>
          </a:prstGeom>
          <a:solidFill>
            <a:srgbClr val="C9A22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261104" y="17830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Medium-term (1-2 years)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61104" y="2377440"/>
            <a:ext cx="3657600" cy="3611880"/>
          </a:xfrm>
          <a:prstGeom prst="roundRect">
            <a:avLst>
              <a:gd name="adj" fmla="val 1266"/>
            </a:avLst>
          </a:prstGeom>
          <a:solidFill>
            <a:srgbClr val="EAF1F8"/>
          </a:solidFill>
          <a:ln w="12700">
            <a:solidFill>
              <a:srgbClr val="D6E0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89704" y="2560320"/>
            <a:ext cx="32004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Renewable Energy technician pipelines in Sikkim &amp; Arunachal Pradesh, aligned to hydro/solar project timelines</a:t>
            </a:r>
            <a:endParaRPr lang="en-US" sz="11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 &amp; warehousing certification hubs in Assam, leveraging its role as the region's transport gateway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65008" y="1783080"/>
            <a:ext cx="3657600" cy="502920"/>
          </a:xfrm>
          <a:prstGeom prst="roundRect">
            <a:avLst>
              <a:gd name="adj" fmla="val 9091"/>
            </a:avLst>
          </a:prstGeom>
          <a:solidFill>
            <a:srgbClr val="1F386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65008" y="17830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(2+ years)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65008" y="2377440"/>
            <a:ext cx="3657600" cy="3611880"/>
          </a:xfrm>
          <a:prstGeom prst="roundRect">
            <a:avLst>
              <a:gd name="adj" fmla="val 1266"/>
            </a:avLst>
          </a:prstGeom>
          <a:solidFill>
            <a:srgbClr val="EAF1F8"/>
          </a:solidFill>
          <a:ln w="12700">
            <a:solidFill>
              <a:srgbClr val="D6E0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93608" y="2560320"/>
            <a:ext cx="32004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Industry-linked apprenticeships embedded directly in Manufacturing &amp; Construction employers, not standalone institutes</a:t>
            </a:r>
            <a:endParaRPr lang="en-US" sz="11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shared, SQL-backed Skill Gap Index dashboard refreshed with real PLFS/state skill-mission data, so funding follows evidence, not assumption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Northeast India Youth Employment &amp; Skill Gap Analysis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this analysis was built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430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for analysis logic, Excel for transparent calculation &amp; re-use, PowerPoint for decision-ready storytelling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3657600" cy="82296"/>
          </a:xfrm>
          <a:prstGeom prst="rect">
            <a:avLst/>
          </a:prstGeom>
          <a:solidFill>
            <a:srgbClr val="2E7D6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965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(SQLite)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514600"/>
            <a:ext cx="3474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Cleaned &amp; de-duplicated 240-row workforce dataset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Segmented demand/supply by state × sector × skill category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Computed skill gap, gap %, and normalized Skill Gap Index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reusable queries: cleaning, rollups, index, top-10 ranking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61104" y="1783080"/>
            <a:ext cx="3657600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261104" y="1965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261104" y="2514600"/>
            <a:ext cx="3474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formulas (not hardcoded) for gap &amp; gap % — recalculates if inputs change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Conditional-formatted heat maps on gap severity &amp; SGI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Sector, state, and skill-category rollups with native charts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SQL script embedded on its own sheet for auditability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65008" y="1783080"/>
            <a:ext cx="3657600" cy="82296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065008" y="1965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PowerPoint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065008" y="2514600"/>
            <a:ext cx="3474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Decision-ready narrative: context → method → findings → priorities → action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charts (not images) for demand/supply, gap %, and SGI ranking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Top-10 priority table sortable by Skill Gap Index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a funder/policy audience — clear methodology, honest caveats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Northeast India Youth Employment &amp; Skill Gap Analysis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46304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48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Northeast India Youth Employment &amp; Skill Gap Analysis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11064240" cy="3017520"/>
          </a:xfrm>
          <a:prstGeom prst="roundRect">
            <a:avLst>
              <a:gd name="adj" fmla="val 1818"/>
            </a:avLst>
          </a:prstGeom>
          <a:solidFill>
            <a:srgbClr val="16294A"/>
          </a:solidFill>
          <a:ln w="12700">
            <a:solidFill>
              <a:srgbClr val="2E4A7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108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note on the data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520440"/>
            <a:ext cx="104241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C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deck uses a modeled, illustrative dataset (state youth population, sector activity multipliers, and state-sector affinity patterns calibrated to publicly known regional strengths) built to demonstrate the full analysis methodology end-to-end. Figures are NOT official NSSO/PLFS or state skill-mission statistics. The SQL logic, Excel formulas, and Skill Gap Index framework are designed to be repointed directly at real PLFS, state skill-mission, and industry-association data without any change to the underlying methodology.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2026-09-03T18:10:15Z</dcterms:created>
  <dcterms:modified xsi:type="dcterms:W3CDTF">2026-09-03T18:10:15Z</dcterms:modified>
</cp:coreProperties>
</file>